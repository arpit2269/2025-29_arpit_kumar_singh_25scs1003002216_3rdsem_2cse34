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731520"/>
            <a:ext cx="109728" cy="5120640"/>
          </a:xfrm>
          <a:prstGeom prst="rect">
            <a:avLst/>
          </a:prstGeom>
          <a:solidFill>
            <a:srgbClr val="2E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914400"/>
            <a:ext cx="101498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NetSage AI</a:t>
            </a:r>
          </a:p>
          <a:p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AI-Assisted Network Troubleshooting with Human Review</a:t>
            </a:r>
          </a:p>
          <a:p>
            <a:pPr>
              <a:defRPr sz="1800">
                <a:solidFill>
                  <a:srgbClr val="D2DCEB"/>
                </a:solidFill>
                <a:latin typeface="Aptos"/>
              </a:defRPr>
            </a:pPr>
            <a:r>
              <a:t>Cisco–AICTE Virtual Internship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886200"/>
            <a:ext cx="77724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ARPIT KUMAR SINGH</a:t>
            </a:r>
          </a:p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Roll No. 25SCS1003002216</a:t>
            </a:r>
          </a:p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B.Tech CSE | Batch 2026–27</a:t>
            </a:r>
          </a:p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IILM University</a:t>
            </a:r>
          </a:p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Internship Coordinator: Dr. Swati Vashisht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E76"/>
                </a:solidFill>
                <a:latin typeface="Aptos"/>
              </a:defRPr>
            </a:pPr>
            <a:r>
              <a:t>NetSage AI  |  Cisco–AICTE Virtual Internship  |  1</a:t>
            </a:r>
          </a:p>
        </p:txBody>
      </p:sp>
      <p:pic>
        <p:nvPicPr>
          <p:cNvPr id="7" name="Picture 6" descr="IILM_Universit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594360"/>
            <a:ext cx="1234440" cy="13159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4"/>
                </a:solidFill>
                <a:latin typeface="Aptos Display"/>
              </a:defRPr>
            </a:pPr>
            <a:r>
              <a:t>Internship &amp;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E76"/>
                </a:solidFill>
                <a:latin typeface="Aptos"/>
              </a:defRPr>
            </a:pPr>
            <a:r>
              <a:t>A practical combination of networking, AI reasoning and human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Project: Project 2 – Applied AI + Network Troubleshooting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Individual implementation completed during the Cisco–AICTE Virtual Internship Program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Course completion period: 20 May 2026 – 18 June 2026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Overall internship duration: approximately 2 months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Focus: Cisco-style Packet Tracer and laboratory troubleshooting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Core idea: evidence → diagnosis → independent check → human review → manual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E76"/>
                </a:solidFill>
                <a:latin typeface="Aptos"/>
              </a:defRPr>
            </a:pPr>
            <a:r>
              <a:t>NetSage AI  |  Cisco–AICTE Virtual Internship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4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E76"/>
                </a:solidFill>
                <a:latin typeface="Aptos"/>
              </a:defRPr>
            </a:pPr>
            <a:r>
              <a:t>Why NetSage AI is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Junior network engineers may know individual commands but struggle to connect symptoms with root causes.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A single connectivity failure can involve VLAN, gateway, DHCP, DNS, routing, ACL, NAT or wireless configuration.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The required assistant must use symptoms and show-command evidence to recommend a likely fault and next step.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Every diagnosis must be reviewed by a human before a fix is accepted.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The project must include at least 30 cases, structured prompts, a deterministic checker, dashboard and Responsible-AI corrections.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E76"/>
                </a:solidFill>
                <a:latin typeface="Aptos"/>
              </a:defRPr>
            </a:pPr>
            <a:r>
              <a:t>NetSage AI  |  Cisco–AICTE Virtual Internship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4"/>
                </a:solidFill>
                <a:latin typeface="Aptos Display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E76"/>
                </a:solidFill>
                <a:latin typeface="Aptos"/>
              </a:defRPr>
            </a:pPr>
            <a:r>
              <a:t>NetSage AI uses two diagnosis layers and a human safety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1874519" cy="1143000"/>
          </a:xfrm>
          <a:prstGeom prst="roundRect">
            <a:avLst/>
          </a:prstGeom>
          <a:solidFill>
            <a:srgbClr val="EFF3F8"/>
          </a:solidFill>
          <a:ln>
            <a:solidFill>
              <a:srgbClr val="2E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E66BE"/>
                </a:solidFill>
              </a:defRPr>
            </a:pPr>
            <a:r>
              <a:t>1</a:t>
            </a:r>
          </a:p>
          <a:p>
            <a:pPr algn="ctr">
              <a:defRPr sz="1300" b="1">
                <a:solidFill>
                  <a:srgbClr val="122034"/>
                </a:solidFill>
              </a:defRPr>
            </a:pPr>
            <a:r>
              <a:t>Case Evidence</a:t>
            </a:r>
          </a:p>
        </p:txBody>
      </p:sp>
      <p:sp>
        <p:nvSpPr>
          <p:cNvPr id="6" name="Chevron 5"/>
          <p:cNvSpPr/>
          <p:nvPr/>
        </p:nvSpPr>
        <p:spPr>
          <a:xfrm>
            <a:off x="2606040" y="2267712"/>
            <a:ext cx="320040" cy="457200"/>
          </a:xfrm>
          <a:prstGeom prst="chevron">
            <a:avLst/>
          </a:prstGeom>
          <a:solidFill>
            <a:srgbClr val="2E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26080" y="1920240"/>
            <a:ext cx="1874519" cy="1143000"/>
          </a:xfrm>
          <a:prstGeom prst="roundRect">
            <a:avLst/>
          </a:prstGeom>
          <a:solidFill>
            <a:srgbClr val="EFF3F8"/>
          </a:solidFill>
          <a:ln>
            <a:solidFill>
              <a:srgbClr val="2E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E66BE"/>
                </a:solidFill>
              </a:defRPr>
            </a:pPr>
            <a:r>
              <a:t>2</a:t>
            </a:r>
          </a:p>
          <a:p>
            <a:pPr algn="ctr">
              <a:defRPr sz="1300" b="1">
                <a:solidFill>
                  <a:srgbClr val="122034"/>
                </a:solidFill>
              </a:defRPr>
            </a:pPr>
            <a:r>
              <a:t>AI Diagnosis</a:t>
            </a:r>
          </a:p>
        </p:txBody>
      </p:sp>
      <p:sp>
        <p:nvSpPr>
          <p:cNvPr id="8" name="Chevron 7"/>
          <p:cNvSpPr/>
          <p:nvPr/>
        </p:nvSpPr>
        <p:spPr>
          <a:xfrm>
            <a:off x="4846320" y="2267712"/>
            <a:ext cx="320040" cy="457200"/>
          </a:xfrm>
          <a:prstGeom prst="chevron">
            <a:avLst/>
          </a:prstGeom>
          <a:solidFill>
            <a:srgbClr val="2E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66360" y="1920240"/>
            <a:ext cx="1874519" cy="1143000"/>
          </a:xfrm>
          <a:prstGeom prst="roundRect">
            <a:avLst/>
          </a:prstGeom>
          <a:solidFill>
            <a:srgbClr val="EFF3F8"/>
          </a:solidFill>
          <a:ln>
            <a:solidFill>
              <a:srgbClr val="2E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E66BE"/>
                </a:solidFill>
              </a:defRPr>
            </a:pPr>
            <a:r>
              <a:t>3</a:t>
            </a:r>
          </a:p>
          <a:p>
            <a:pPr algn="ctr">
              <a:defRPr sz="1300" b="1">
                <a:solidFill>
                  <a:srgbClr val="122034"/>
                </a:solidFill>
              </a:defRPr>
            </a:pPr>
            <a:r>
              <a:t>Rule Checker</a:t>
            </a:r>
          </a:p>
        </p:txBody>
      </p:sp>
      <p:sp>
        <p:nvSpPr>
          <p:cNvPr id="10" name="Chevron 9"/>
          <p:cNvSpPr/>
          <p:nvPr/>
        </p:nvSpPr>
        <p:spPr>
          <a:xfrm>
            <a:off x="7086600" y="2267712"/>
            <a:ext cx="320040" cy="457200"/>
          </a:xfrm>
          <a:prstGeom prst="chevron">
            <a:avLst/>
          </a:prstGeom>
          <a:solidFill>
            <a:srgbClr val="2E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06640" y="1920240"/>
            <a:ext cx="1874519" cy="1143000"/>
          </a:xfrm>
          <a:prstGeom prst="roundRect">
            <a:avLst/>
          </a:prstGeom>
          <a:solidFill>
            <a:srgbClr val="EFF3F8"/>
          </a:solidFill>
          <a:ln>
            <a:solidFill>
              <a:srgbClr val="2E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E66BE"/>
                </a:solidFill>
              </a:defRPr>
            </a:pPr>
            <a:r>
              <a:t>4</a:t>
            </a:r>
          </a:p>
          <a:p>
            <a:pPr algn="ctr">
              <a:defRPr sz="1300" b="1">
                <a:solidFill>
                  <a:srgbClr val="122034"/>
                </a:solidFill>
              </a:defRPr>
            </a:pPr>
            <a:r>
              <a:t>Human Review</a:t>
            </a:r>
          </a:p>
        </p:txBody>
      </p:sp>
      <p:sp>
        <p:nvSpPr>
          <p:cNvPr id="12" name="Chevron 11"/>
          <p:cNvSpPr/>
          <p:nvPr/>
        </p:nvSpPr>
        <p:spPr>
          <a:xfrm>
            <a:off x="9326880" y="2267712"/>
            <a:ext cx="320040" cy="457200"/>
          </a:xfrm>
          <a:prstGeom prst="chevron">
            <a:avLst/>
          </a:prstGeom>
          <a:solidFill>
            <a:srgbClr val="2E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46920" y="1920240"/>
            <a:ext cx="1874519" cy="1143000"/>
          </a:xfrm>
          <a:prstGeom prst="roundRect">
            <a:avLst/>
          </a:prstGeom>
          <a:solidFill>
            <a:srgbClr val="EFF3F8"/>
          </a:solidFill>
          <a:ln>
            <a:solidFill>
              <a:srgbClr val="2E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E66BE"/>
                </a:solidFill>
              </a:defRPr>
            </a:pPr>
            <a:r>
              <a:t>5</a:t>
            </a:r>
          </a:p>
          <a:p>
            <a:pPr algn="ctr">
              <a:defRPr sz="1300" b="1">
                <a:solidFill>
                  <a:srgbClr val="122034"/>
                </a:solidFill>
              </a:defRPr>
            </a:pPr>
            <a:r>
              <a:t>Packet Tracer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8620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ptos"/>
              </a:defRPr>
            </a:pPr>
            <a:r>
              <a:t>Diagnosis fields: root cause, confidence, OSI layer, evidence, next command and fix steps.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ptos"/>
              </a:defRPr>
            </a:pPr>
            <a:r>
              <a:t>The application proposes actions but does not automatically change network configuration.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E76"/>
                </a:solidFill>
                <a:latin typeface="Aptos"/>
              </a:defRPr>
            </a:pPr>
            <a:r>
              <a:t>NetSage AI  |  Cisco–AICTE Virtual Internship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4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E76"/>
                </a:solidFill>
                <a:latin typeface="Aptos"/>
              </a:defRPr>
            </a:pPr>
            <a:r>
              <a:t>Local, evidence-first and independently validated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2743200" cy="621792"/>
          </a:xfrm>
          <a:prstGeom prst="roundRect">
            <a:avLst/>
          </a:prstGeom>
          <a:solidFill>
            <a:srgbClr val="EFF3F8"/>
          </a:solidFill>
          <a:ln>
            <a:solidFill>
              <a:srgbClr val="2E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034"/>
                </a:solidFill>
              </a:defRPr>
            </a:pPr>
            <a:r>
              <a:t>Case Dataset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417320"/>
            <a:ext cx="50292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696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1E1E1E"/>
                </a:solidFill>
              </a:defRPr>
            </a:pPr>
            <a:r>
              <a:t>cases.csv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2743200" cy="621792"/>
          </a:xfrm>
          <a:prstGeom prst="roundRect">
            <a:avLst/>
          </a:prstGeom>
          <a:solidFill>
            <a:srgbClr val="EFF3F8"/>
          </a:solidFill>
          <a:ln>
            <a:solidFill>
              <a:srgbClr val="2E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034"/>
                </a:solidFill>
              </a:defRPr>
            </a:pPr>
            <a:r>
              <a:t>Flask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286000"/>
            <a:ext cx="50292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696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1E1E1E"/>
                </a:solidFill>
              </a:defRPr>
            </a:pPr>
            <a:r>
              <a:t>Browser /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54680"/>
            <a:ext cx="2743200" cy="621792"/>
          </a:xfrm>
          <a:prstGeom prst="roundRect">
            <a:avLst/>
          </a:prstGeom>
          <a:solidFill>
            <a:srgbClr val="EFF3F8"/>
          </a:solidFill>
          <a:ln>
            <a:solidFill>
              <a:srgbClr val="2E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034"/>
                </a:solidFill>
              </a:defRPr>
            </a:pPr>
            <a:r>
              <a:t>AI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3154680"/>
            <a:ext cx="50292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696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1E1E1E"/>
                </a:solidFill>
              </a:defRPr>
            </a:pPr>
            <a:r>
              <a:t>Structured diagnosis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023359"/>
            <a:ext cx="2743200" cy="621792"/>
          </a:xfrm>
          <a:prstGeom prst="roundRect">
            <a:avLst/>
          </a:prstGeom>
          <a:solidFill>
            <a:srgbClr val="EFF3F8"/>
          </a:solidFill>
          <a:ln>
            <a:solidFill>
              <a:srgbClr val="2E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034"/>
                </a:solidFill>
              </a:defRPr>
            </a:pPr>
            <a:r>
              <a:t>Rule Checker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4023359"/>
            <a:ext cx="50292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696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1E1E1E"/>
                </a:solidFill>
              </a:defRPr>
            </a:pPr>
            <a:r>
              <a:t>Deterministic checks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892040"/>
            <a:ext cx="2743200" cy="621792"/>
          </a:xfrm>
          <a:prstGeom prst="roundRect">
            <a:avLst/>
          </a:prstGeom>
          <a:solidFill>
            <a:srgbClr val="EFF3F8"/>
          </a:solidFill>
          <a:ln>
            <a:solidFill>
              <a:srgbClr val="2E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034"/>
                </a:solidFill>
              </a:defRPr>
            </a:pPr>
            <a:r>
              <a:t>SQLite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4892040"/>
            <a:ext cx="50292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696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1E1E1E"/>
                </a:solidFill>
              </a:defRPr>
            </a:pPr>
            <a:r>
              <a:t>History +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15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Human review sits between diagnosis and any manual configuration change.</a:t>
            </a:r>
          </a:p>
          <a:p>
            <a:pPr>
              <a:spcAft>
                <a:spcPts val="10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The offline-first design makes evaluation repeatable and avoids dependence on an external API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E76"/>
                </a:solidFill>
                <a:latin typeface="Aptos"/>
              </a:defRPr>
            </a:pPr>
            <a:r>
              <a:t>NetSage AI  |  Cisco–AICTE Virtual Internship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4"/>
                </a:solidFill>
                <a:latin typeface="Aptos Display"/>
              </a:defRPr>
            </a:pPr>
            <a:r>
              <a:t>Technologies &amp;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ptos"/>
              </a:defRPr>
            </a:pPr>
            <a:r>
              <a:t>Python 3 — application logic, diagnosis engine, rule checker and validation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ptos"/>
              </a:defRPr>
            </a:pPr>
            <a:r>
              <a:t>Flask — local web application and API routes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ptos"/>
              </a:defRPr>
            </a:pPr>
            <a:r>
              <a:t>HTML / CSS / JavaScript — dashboard and case-browser interface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ptos"/>
              </a:defRPr>
            </a:pPr>
            <a:r>
              <a:t>SQLite — diagnosis, rule-finding and human-review history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ptos"/>
              </a:defRPr>
            </a:pPr>
            <a:r>
              <a:t>CSV — structured case and Responsible-AI datasets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ptos"/>
              </a:defRPr>
            </a:pPr>
            <a:r>
              <a:t>Cisco Packet Tracer — network topology, manual correction and verification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ptos"/>
              </a:defRPr>
            </a:pPr>
            <a:r>
              <a:t>Netmiko compatibility — Cisco/SSH-oriented evidence collection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E76"/>
                </a:solidFill>
                <a:latin typeface="Aptos"/>
              </a:defRPr>
            </a:pPr>
            <a:r>
              <a:t>NetSage AI  |  Cisco–AICTE Virtual Internship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4"/>
                </a:solidFill>
                <a:latin typeface="Aptos Display"/>
              </a:defRPr>
            </a:pPr>
            <a:r>
              <a:t>Case Dataset &amp;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E76"/>
                </a:solidFill>
                <a:latin typeface="Aptos"/>
              </a:defRPr>
            </a:pPr>
            <a:r>
              <a:t>31 cases across all eight required fault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731520" cy="2743200"/>
          </a:xfrm>
          <a:prstGeom prst="rect">
            <a:avLst/>
          </a:prstGeom>
          <a:solidFill>
            <a:srgbClr val="2E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166360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E1E1E"/>
                </a:solidFill>
              </a:defRPr>
            </a:pPr>
            <a:r>
              <a:t>VLAN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22034"/>
                </a:solidFill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2121408" y="2834639"/>
            <a:ext cx="731520" cy="2194560"/>
          </a:xfrm>
          <a:prstGeom prst="rect">
            <a:avLst/>
          </a:prstGeom>
          <a:solidFill>
            <a:srgbClr val="2E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92808" y="5166360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E1E1E"/>
                </a:solidFill>
              </a:defRPr>
            </a:pPr>
            <a:r>
              <a:t>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2423159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22034"/>
                </a:solidFill>
              </a:defRPr>
            </a:pPr>
            <a: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11296" y="2834639"/>
            <a:ext cx="731520" cy="2194560"/>
          </a:xfrm>
          <a:prstGeom prst="rect">
            <a:avLst/>
          </a:prstGeom>
          <a:solidFill>
            <a:srgbClr val="2E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82696" y="5166360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E1E1E"/>
                </a:solidFill>
              </a:defRPr>
            </a:pPr>
            <a:r>
              <a:t>DHCP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2423159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22034"/>
                </a:solidFill>
              </a:defRPr>
            </a:pPr>
            <a: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01184" y="2834639"/>
            <a:ext cx="731520" cy="2194560"/>
          </a:xfrm>
          <a:prstGeom prst="rect">
            <a:avLst/>
          </a:prstGeom>
          <a:solidFill>
            <a:srgbClr val="2E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2584" y="5166360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E1E1E"/>
                </a:solidFill>
              </a:defRPr>
            </a:pPr>
            <a:r>
              <a:t>DNS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1184" y="2423159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22034"/>
                </a:solidFill>
              </a:defRPr>
            </a:pPr>
            <a: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1072" y="2834639"/>
            <a:ext cx="731520" cy="2194560"/>
          </a:xfrm>
          <a:prstGeom prst="rect">
            <a:avLst/>
          </a:prstGeom>
          <a:solidFill>
            <a:srgbClr val="2E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62472" y="5166360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E1E1E"/>
                </a:solidFill>
              </a:defRPr>
            </a:pPr>
            <a:r>
              <a:t>Routing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423159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22034"/>
                </a:solidFill>
              </a:defRPr>
            </a:pPr>
            <a: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2834639"/>
            <a:ext cx="731520" cy="2194560"/>
          </a:xfrm>
          <a:prstGeom prst="rect">
            <a:avLst/>
          </a:prstGeom>
          <a:solidFill>
            <a:srgbClr val="2E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5166360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E1E1E"/>
                </a:solidFill>
              </a:defRPr>
            </a:pPr>
            <a:r>
              <a:t>ACL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423159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22034"/>
                </a:solidFill>
              </a:defRPr>
            </a:pPr>
            <a: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70848" y="3383280"/>
            <a:ext cx="731520" cy="1645919"/>
          </a:xfrm>
          <a:prstGeom prst="rect">
            <a:avLst/>
          </a:prstGeom>
          <a:solidFill>
            <a:srgbClr val="2E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42248" y="5166360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E1E1E"/>
                </a:solidFill>
              </a:defRPr>
            </a:pPr>
            <a:r>
              <a:t>NAT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0848" y="2971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22034"/>
                </a:solidFill>
              </a:defRPr>
            </a:pPr>
            <a: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60736" y="3383280"/>
            <a:ext cx="731520" cy="1645919"/>
          </a:xfrm>
          <a:prstGeom prst="rect">
            <a:avLst/>
          </a:prstGeom>
          <a:solidFill>
            <a:srgbClr val="2E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32136" y="5166360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E1E1E"/>
                </a:solidFill>
              </a:defRPr>
            </a:pPr>
            <a:r>
              <a:t>Wireless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0736" y="2971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22034"/>
                </a:solidFill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6692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Every case contains symptom, topology note, show-command evidence, expected fault, OSI layer, concept and severity.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E76"/>
                </a:solidFill>
                <a:latin typeface="Aptos"/>
              </a:defRPr>
            </a:pPr>
            <a:r>
              <a:t>NetSage AI  |  Cisco–AICTE Virtual Internship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4"/>
                </a:solidFill>
                <a:latin typeface="Aptos Display"/>
              </a:defRPr>
            </a:pPr>
            <a:r>
              <a:t>Validation &amp; Responsible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4297680"/>
          </a:xfrm>
          <a:prstGeom prst="roundRect">
            <a:avLst/>
          </a:prstGeom>
          <a:solidFill>
            <a:srgbClr val="EFF3F8"/>
          </a:solidFill>
          <a:ln>
            <a:solidFill>
              <a:srgbClr val="2E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6634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22034"/>
                </a:solidFill>
                <a:latin typeface="Aptos"/>
              </a:defRPr>
            </a:pPr>
            <a:r>
              <a:t>Validation results</a:t>
            </a:r>
          </a:p>
          <a:p>
            <a:pPr>
              <a:spcAft>
                <a:spcPts val="800"/>
              </a:spcAft>
              <a:defRPr sz="1500" b="0">
                <a:solidFill>
                  <a:srgbClr val="1E1E1E"/>
                </a:solidFill>
                <a:latin typeface="Aptos"/>
              </a:defRPr>
            </a:pPr>
            <a:r>
              <a:t>31 cases diagnosed</a:t>
            </a:r>
          </a:p>
          <a:p>
            <a:pPr>
              <a:spcAft>
                <a:spcPts val="800"/>
              </a:spcAft>
              <a:defRPr sz="1500" b="0">
                <a:solidFill>
                  <a:srgbClr val="1E1E1E"/>
                </a:solidFill>
                <a:latin typeface="Aptos"/>
              </a:defRPr>
            </a:pPr>
            <a:r>
              <a:t>31 cases reviewed</a:t>
            </a:r>
          </a:p>
          <a:p>
            <a:pPr>
              <a:spcAft>
                <a:spcPts val="800"/>
              </a:spcAft>
              <a:defRPr sz="1500" b="0">
                <a:solidFill>
                  <a:srgbClr val="1E1E1E"/>
                </a:solidFill>
                <a:latin typeface="Aptos"/>
              </a:defRPr>
            </a:pPr>
            <a:r>
              <a:t>32 deterministic findings</a:t>
            </a:r>
          </a:p>
          <a:p>
            <a:pPr>
              <a:spcAft>
                <a:spcPts val="800"/>
              </a:spcAft>
              <a:defRPr sz="1500" b="0">
                <a:solidFill>
                  <a:srgbClr val="1E1E1E"/>
                </a:solidFill>
                <a:latin typeface="Aptos"/>
              </a:defRPr>
            </a:pPr>
            <a:r>
              <a:t>Python syntax: PASS</a:t>
            </a:r>
          </a:p>
          <a:p>
            <a:pPr>
              <a:spcAft>
                <a:spcPts val="800"/>
              </a:spcAft>
              <a:defRPr sz="1500" b="0">
                <a:solidFill>
                  <a:srgbClr val="1E1E1E"/>
                </a:solidFill>
                <a:latin typeface="Aptos"/>
              </a:defRPr>
            </a:pPr>
            <a:r>
              <a:t>Evidence validation: PASS</a:t>
            </a:r>
          </a:p>
          <a:p>
            <a:pPr>
              <a:spcAft>
                <a:spcPts val="800"/>
              </a:spcAft>
              <a:defRPr sz="1500" b="0">
                <a:solidFill>
                  <a:srgbClr val="1E1E1E"/>
                </a:solidFill>
                <a:latin typeface="Aptos"/>
              </a:defRPr>
            </a:pPr>
            <a:r>
              <a:t>Deterministic checker: PASS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1732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2E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46634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22034"/>
                </a:solidFill>
                <a:latin typeface="Aptos"/>
              </a:defRPr>
            </a:pPr>
            <a:r>
              <a:t>Responsible-AI workflow</a:t>
            </a:r>
          </a:p>
          <a:p>
            <a:pPr>
              <a:spcAft>
                <a:spcPts val="800"/>
              </a:spcAft>
              <a:defRPr sz="1500" b="0">
                <a:solidFill>
                  <a:srgbClr val="1E1E1E"/>
                </a:solidFill>
                <a:latin typeface="Aptos"/>
              </a:defRPr>
            </a:pPr>
            <a:r>
              <a:t>Accepted — reviewer agrees</a:t>
            </a:r>
          </a:p>
          <a:p>
            <a:pPr>
              <a:spcAft>
                <a:spcPts val="800"/>
              </a:spcAft>
              <a:defRPr sz="1500" b="0">
                <a:solidFill>
                  <a:srgbClr val="1E1E1E"/>
                </a:solidFill>
                <a:latin typeface="Aptos"/>
              </a:defRPr>
            </a:pPr>
            <a:r>
              <a:t>Edited — reviewer corrects / clarifies</a:t>
            </a:r>
          </a:p>
          <a:p>
            <a:pPr>
              <a:spcAft>
                <a:spcPts val="800"/>
              </a:spcAft>
              <a:defRPr sz="1500" b="0">
                <a:solidFill>
                  <a:srgbClr val="1E1E1E"/>
                </a:solidFill>
                <a:latin typeface="Aptos"/>
              </a:defRPr>
            </a:pPr>
            <a:r>
              <a:t>Rejected — reviewer does not approve</a:t>
            </a:r>
          </a:p>
          <a:p>
            <a:pPr>
              <a:spcAft>
                <a:spcPts val="800"/>
              </a:spcAft>
              <a:defRPr sz="1500" b="0">
                <a:solidFill>
                  <a:srgbClr val="1E1E1E"/>
                </a:solidFill>
                <a:latin typeface="Aptos"/>
              </a:defRPr>
            </a:pPr>
            <a:r>
              <a:t>5 documented corrected-AI cases</a:t>
            </a:r>
          </a:p>
          <a:p>
            <a:pPr>
              <a:spcAft>
                <a:spcPts val="800"/>
              </a:spcAft>
              <a:defRPr sz="1500" b="0">
                <a:solidFill>
                  <a:srgbClr val="1E1E1E"/>
                </a:solidFill>
                <a:latin typeface="Aptos"/>
              </a:defRPr>
            </a:pPr>
            <a:r>
              <a:t>Reviewer notes explain what changed and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E76"/>
                </a:solidFill>
                <a:latin typeface="Aptos"/>
              </a:defRPr>
            </a:pPr>
            <a:r>
              <a:t>NetSage AI  |  Cisco–AICTE Virtual Internship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4"/>
                </a:solidFill>
                <a:latin typeface="Aptos Display"/>
              </a:defRPr>
            </a:pPr>
            <a:r>
              <a:t>Dashboard &amp; Demonstration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Dashboard: total cases, diagnosed cases, average AI confidence and AI-to-human agreement.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Case Browser: inspect symptoms and evidence, run AI Diagnosis and Rule Checker, then record review.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Responsible AI section: inspect corrected-AI cases and reviewer notes.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Packet Tracer: manually apply approved correction and verify with show/ping/connectivity commands.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The system keeps AI recommendations separate from actual network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E76"/>
                </a:solidFill>
                <a:latin typeface="Aptos"/>
              </a:defRPr>
            </a:pPr>
            <a:r>
              <a:t>NetSage AI  |  Cisco–AICTE Virtual Internship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4"/>
                </a:solidFill>
                <a:latin typeface="Aptos Display"/>
              </a:defRPr>
            </a:pPr>
            <a:r>
              <a:t>Learning Outcomes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Applied VLAN, routing, gateway, DHCP, DNS, ACL, NAT and wireless troubleshooting concepts.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Learned to structure AI output so that evidence and verification remain visible.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Implemented deterministic validation alongside AI-style diagnosis.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Designed a human-in-the-loop workflow for safer AI-assisted troubleshooting.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Future: richer telemetry, verified command retrieval, role-based reviewers, larger multi-fault datasets and calibrated confidence evaluation.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E76"/>
                </a:solidFill>
                <a:latin typeface="Aptos"/>
              </a:defRPr>
            </a:pPr>
            <a:r>
              <a:t>NetSage AI  |  Cisco–AICTE Virtual Internship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NetSage AI turns a network symptom into an evidence-backed troubleshooting workflow.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It combines structured AI diagnosis, deterministic checks and human review.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The final implementation exceeds the minimum case requirement and covers all eight required fault areas.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Most importantly, the tool recommends fixes without silently applying them.</a:t>
            </a:r>
          </a:p>
          <a:p>
            <a:pPr>
              <a:defRPr sz="2500" b="1">
                <a:solidFill>
                  <a:srgbClr val="D2DCEB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E76"/>
                </a:solidFill>
                <a:latin typeface="Aptos"/>
              </a:defRPr>
            </a:pPr>
            <a:r>
              <a:t>NetSage AI  |  Cisco–AICTE Virtual Internship  |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